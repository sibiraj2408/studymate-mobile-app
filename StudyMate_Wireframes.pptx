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tableStyles" Target="tableStyle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heme" Target="theme/theme1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viewProps" Target="viewProps.xml" /><Relationship Id="rId5" Type="http://schemas.openxmlformats.org/officeDocument/2006/relationships/slide" Target="slides/slide4.xml" /><Relationship Id="rId10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72B4D"/>
                </a:solidFill>
                <a:latin typeface="Aptos"/>
              </a:defRPr>
            </a:pPr>
            <a:r>
              <a:t>STUDYMATE  |  SCREEN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476E8"/>
                </a:solidFill>
                <a:latin typeface="Aptos"/>
              </a:defRPr>
            </a:pPr>
            <a:r>
              <a:t>01 – Welcome / Login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3520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6B82"/>
                </a:solidFill>
                <a:latin typeface="Aptos"/>
              </a:defRPr>
            </a:pPr>
            <a:r>
              <a:t>StudyMate mark and tagline; email and password fields; forgot-password link; Login and Sign Up actions.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46120"/>
            <a:ext cx="3520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72B4D"/>
                </a:solidFill>
                <a:latin typeface="Aptos"/>
              </a:defRPr>
            </a:pPr>
            <a:r>
              <a:t>Low-fidelity mobile wireframe</a:t>
            </a:r>
            <a:br/>
            <a:r>
              <a:t>Professional blue &amp; white system</a:t>
            </a:r>
            <a:br/>
            <a:r>
              <a:t>Frame reference: 360 × 800 px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98848" y="182880"/>
            <a:ext cx="3200400" cy="6446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00016" y="27432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72B4D"/>
                </a:solidFill>
                <a:latin typeface="Aptos"/>
              </a:defRPr>
            </a:pPr>
            <a:r>
              <a:t>9:41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9128" y="27432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172B4D"/>
                </a:solidFill>
                <a:latin typeface="Aptos"/>
              </a:defRPr>
            </a:pPr>
            <a:r>
              <a:t>●  ▮  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9864" y="1143000"/>
            <a:ext cx="658368" cy="658368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69864" y="1298448"/>
            <a:ext cx="6583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476E8"/>
                </a:solidFill>
                <a:latin typeface="Aptos"/>
              </a:defRPr>
            </a:pPr>
            <a:r>
              <a:t>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3168" y="19659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172B4D"/>
                </a:solidFill>
                <a:latin typeface="Aptos"/>
              </a:defRPr>
            </a:pPr>
            <a:r>
              <a:t>StudyMate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233172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B6B82"/>
                </a:solidFill>
                <a:latin typeface="Aptos"/>
              </a:defRPr>
            </a:pPr>
            <a:r>
              <a:t>Plan smart. Study better.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7448" y="292608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72B4D"/>
                </a:solidFill>
                <a:latin typeface="Aptos"/>
              </a:defRPr>
            </a:pPr>
            <a:r>
              <a:t>Email address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18304" y="3154680"/>
            <a:ext cx="2761488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64608" y="3273552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794A7"/>
                </a:solidFill>
                <a:latin typeface="Aptos"/>
              </a:defRPr>
            </a:pPr>
            <a:r>
              <a:t>Enter your email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373075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72B4D"/>
                </a:solidFill>
                <a:latin typeface="Aptos"/>
              </a:defRPr>
            </a:pPr>
            <a:r>
              <a:t>Password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18304" y="3959352"/>
            <a:ext cx="2761488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64608" y="4078224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794A7"/>
                </a:solidFill>
                <a:latin typeface="Aptos"/>
              </a:defRPr>
            </a:pPr>
            <a:r>
              <a:t>Enter your password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18888" y="4507992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2476E8"/>
                </a:solidFill>
                <a:latin typeface="Aptos"/>
              </a:defRPr>
            </a:pPr>
            <a:r>
              <a:t>Forgot password?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18304" y="4782312"/>
            <a:ext cx="2761488" cy="475488"/>
          </a:xfrm>
          <a:prstGeom prst="roundRect">
            <a:avLst/>
          </a:prstGeom>
          <a:solidFill>
            <a:srgbClr val="2476E8"/>
          </a:solidFill>
          <a:ln w="12700">
            <a:solidFill>
              <a:srgbClr val="247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18304" y="4919472"/>
            <a:ext cx="2761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LOGIN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27448" y="5532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B6B82"/>
                </a:solidFill>
                <a:latin typeface="Aptos"/>
              </a:defRPr>
            </a:pPr>
            <a:r>
              <a:t>Don't have an account? Sign 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9144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2B4D"/>
                </a:solidFill>
                <a:latin typeface="Aptos"/>
              </a:defRPr>
            </a:pPr>
            <a:r>
              <a:t>Design notes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37160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6B82"/>
                </a:solidFill>
                <a:latin typeface="Aptos"/>
              </a:defRPr>
            </a:pPr>
            <a:r>
              <a:t>• Clear hierarchy</a:t>
            </a:r>
            <a:br/>
            <a:r>
              <a:t>• Consistent spacing</a:t>
            </a:r>
            <a:br/>
            <a:r>
              <a:t>• Simple touch targets</a:t>
            </a:r>
            <a:br/>
            <a:r>
              <a:t>• Reusable navigation</a:t>
            </a:r>
            <a:br/>
            <a:r>
              <a:t>• Placeholder content</a:t>
            </a:r>
            <a:br/>
            <a:br/>
            <a:r>
              <a:t>This is a concept prototype, not a coded app.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72B4D"/>
                </a:solidFill>
                <a:latin typeface="Aptos"/>
              </a:defRPr>
            </a:pPr>
            <a:r>
              <a:t>STUDYMATE  |  SCREEN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476E8"/>
                </a:solidFill>
                <a:latin typeface="Aptos"/>
              </a:defRPr>
            </a:pPr>
            <a:r>
              <a:t>02 – Create Account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3520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6B82"/>
                </a:solidFill>
                <a:latin typeface="Aptos"/>
              </a:defRPr>
            </a:pPr>
            <a:r>
              <a:t>Full name, email, password and confirm-password fields; Create Account action; link back to Login.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46120"/>
            <a:ext cx="3520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72B4D"/>
                </a:solidFill>
                <a:latin typeface="Aptos"/>
              </a:defRPr>
            </a:pPr>
            <a:r>
              <a:t>Low-fidelity mobile wireframe</a:t>
            </a:r>
            <a:br/>
            <a:r>
              <a:t>Professional blue &amp; white system</a:t>
            </a:r>
            <a:br/>
            <a:r>
              <a:t>Frame reference: 360 × 800 px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98848" y="182880"/>
            <a:ext cx="3200400" cy="6446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00016" y="27432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72B4D"/>
                </a:solidFill>
                <a:latin typeface="Aptos"/>
              </a:defRPr>
            </a:pPr>
            <a:r>
              <a:t>9:41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9128" y="27432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172B4D"/>
                </a:solidFill>
                <a:latin typeface="Aptos"/>
              </a:defRPr>
            </a:pPr>
            <a:r>
              <a:t>●  ▮  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27448" y="7498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72B4D"/>
                </a:solidFill>
                <a:latin typeface="Aptos"/>
              </a:defRPr>
            </a:pPr>
            <a:r>
              <a:t>Create account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7448" y="11430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B6B82"/>
                </a:solidFill>
                <a:latin typeface="Aptos"/>
              </a:defRPr>
            </a:pPr>
            <a:r>
              <a:t>Join StudyMate and organize your study life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157276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72B4D"/>
                </a:solidFill>
                <a:latin typeface="Aptos"/>
              </a:defRPr>
            </a:pPr>
            <a:r>
              <a:t>Full name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18304" y="1801368"/>
            <a:ext cx="2761488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64608" y="192024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794A7"/>
                </a:solidFill>
                <a:latin typeface="Aptos"/>
              </a:defRPr>
            </a:pPr>
            <a:r>
              <a:t>Enter your full 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34086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72B4D"/>
                </a:solidFill>
                <a:latin typeface="Aptos"/>
              </a:defRPr>
            </a:pPr>
            <a:r>
              <a:t>Email address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18304" y="2569464"/>
            <a:ext cx="2761488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64608" y="2688336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794A7"/>
                </a:solidFill>
                <a:latin typeface="Aptos"/>
              </a:defRPr>
            </a:pPr>
            <a:r>
              <a:t>Enter your email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3108960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72B4D"/>
                </a:solidFill>
                <a:latin typeface="Aptos"/>
              </a:defRPr>
            </a:pPr>
            <a:r>
              <a:t>Password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18304" y="3337560"/>
            <a:ext cx="2761488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64608" y="3456432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794A7"/>
                </a:solidFill>
                <a:latin typeface="Aptos"/>
              </a:defRPr>
            </a:pPr>
            <a:r>
              <a:t>Create a password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27448" y="3877056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72B4D"/>
                </a:solidFill>
                <a:latin typeface="Aptos"/>
              </a:defRPr>
            </a:pPr>
            <a:r>
              <a:t>Confirm password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18304" y="4105656"/>
            <a:ext cx="2761488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64608" y="4224528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794A7"/>
                </a:solidFill>
                <a:latin typeface="Aptos"/>
              </a:defRPr>
            </a:pPr>
            <a:r>
              <a:t>Re-enter your password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18304" y="4800600"/>
            <a:ext cx="2761488" cy="475488"/>
          </a:xfrm>
          <a:prstGeom prst="roundRect">
            <a:avLst/>
          </a:prstGeom>
          <a:solidFill>
            <a:srgbClr val="2476E8"/>
          </a:solidFill>
          <a:ln w="12700">
            <a:solidFill>
              <a:srgbClr val="247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18304" y="4937760"/>
            <a:ext cx="2761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CREATE ACCOUNT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27448" y="551383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5B6B82"/>
                </a:solidFill>
                <a:latin typeface="Aptos"/>
              </a:defRPr>
            </a:pPr>
            <a:r>
              <a:t>Already have an account? Log 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9144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2B4D"/>
                </a:solidFill>
                <a:latin typeface="Aptos"/>
              </a:defRPr>
            </a:pPr>
            <a:r>
              <a:t>Design notes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137160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6B82"/>
                </a:solidFill>
                <a:latin typeface="Aptos"/>
              </a:defRPr>
            </a:pPr>
            <a:r>
              <a:t>• Clear hierarchy</a:t>
            </a:r>
            <a:br/>
            <a:r>
              <a:t>• Consistent spacing</a:t>
            </a:r>
            <a:br/>
            <a:r>
              <a:t>• Simple touch targets</a:t>
            </a:r>
            <a:br/>
            <a:r>
              <a:t>• Reusable navigation</a:t>
            </a:r>
            <a:br/>
            <a:r>
              <a:t>• Placeholder content</a:t>
            </a:r>
            <a:br/>
            <a:br/>
            <a:r>
              <a:t>This is a concept prototype, not a coded app.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72B4D"/>
                </a:solidFill>
                <a:latin typeface="Aptos"/>
              </a:defRPr>
            </a:pPr>
            <a:r>
              <a:t>STUDYMATE  |  SCREEN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476E8"/>
                </a:solidFill>
                <a:latin typeface="Aptos"/>
              </a:defRPr>
            </a:pPr>
            <a:r>
              <a:t>03 –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3520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6B82"/>
                </a:solidFill>
                <a:latin typeface="Aptos"/>
              </a:defRPr>
            </a:pPr>
            <a:r>
              <a:t>Greeting and date; today's progress card; daily schedule; upcoming task; bottom navigation.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46120"/>
            <a:ext cx="3520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72B4D"/>
                </a:solidFill>
                <a:latin typeface="Aptos"/>
              </a:defRPr>
            </a:pPr>
            <a:r>
              <a:t>Low-fidelity mobile wireframe</a:t>
            </a:r>
            <a:br/>
            <a:r>
              <a:t>Professional blue &amp; white system</a:t>
            </a:r>
            <a:br/>
            <a:r>
              <a:t>Frame reference: 360 × 800 px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98848" y="182880"/>
            <a:ext cx="3200400" cy="6446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00016" y="27432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72B4D"/>
                </a:solidFill>
                <a:latin typeface="Aptos"/>
              </a:defRPr>
            </a:pPr>
            <a:r>
              <a:t>9:41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9128" y="27432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172B4D"/>
                </a:solidFill>
                <a:latin typeface="Aptos"/>
              </a:defRPr>
            </a:pPr>
            <a:r>
              <a:t>●  ▮  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27448" y="731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72B4D"/>
                </a:solidFill>
                <a:latin typeface="Aptos"/>
              </a:defRPr>
            </a:pPr>
            <a:r>
              <a:t>Good morning, Alex!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7448" y="107899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B6B82"/>
                </a:solidFill>
                <a:latin typeface="Aptos"/>
              </a:defRPr>
            </a:pPr>
            <a:r>
              <a:t>Tuesday, 6 October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18304" y="1444751"/>
            <a:ext cx="2761488" cy="1097280"/>
          </a:xfrm>
          <a:prstGeom prst="roundRect">
            <a:avLst/>
          </a:prstGeom>
          <a:solidFill>
            <a:srgbClr val="2476E8"/>
          </a:solidFill>
          <a:ln w="12700">
            <a:solidFill>
              <a:srgbClr val="247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92040" y="1627632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Today's progress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192938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3 of 5 tasks completed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92040" y="2286000"/>
            <a:ext cx="2377440" cy="91440"/>
          </a:xfrm>
          <a:prstGeom prst="roundRect">
            <a:avLst/>
          </a:prstGeom>
          <a:solidFill>
            <a:srgbClr val="A9CCFF"/>
          </a:solidFill>
          <a:ln w="12700">
            <a:solidFill>
              <a:srgbClr val="A9C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892040" y="2286000"/>
            <a:ext cx="1426464" cy="91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27448" y="27249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72B4D"/>
                </a:solidFill>
                <a:latin typeface="Aptos"/>
              </a:defRPr>
            </a:pPr>
            <a:r>
              <a:t>Today's schedule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18304" y="3072384"/>
            <a:ext cx="2761488" cy="53035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64608" y="3163824"/>
            <a:ext cx="24688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2476E8"/>
                </a:solidFill>
                <a:latin typeface="Aptos"/>
              </a:defRPr>
            </a:pPr>
            <a:r>
              <a:t>09:00 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64608" y="3346704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72B4D"/>
                </a:solidFill>
                <a:latin typeface="Aptos"/>
              </a:defRPr>
            </a:pPr>
            <a:r>
              <a:t>Mathematics revision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18304" y="3712463"/>
            <a:ext cx="2761488" cy="53035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64608" y="3803904"/>
            <a:ext cx="24688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2476E8"/>
                </a:solidFill>
                <a:latin typeface="Aptos"/>
              </a:defRPr>
            </a:pPr>
            <a:r>
              <a:t>11:00 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64608" y="3986784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72B4D"/>
                </a:solidFill>
                <a:latin typeface="Aptos"/>
              </a:defRPr>
            </a:pPr>
            <a:r>
              <a:t>Programming practice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18304" y="4352544"/>
            <a:ext cx="2761488" cy="53035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64608" y="4443983"/>
            <a:ext cx="24688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2476E8"/>
                </a:solidFill>
                <a:latin typeface="Aptos"/>
              </a:defRPr>
            </a:pPr>
            <a:r>
              <a:t>02:00 PM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4608" y="4626864"/>
            <a:ext cx="2468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72B4D"/>
                </a:solidFill>
                <a:latin typeface="Aptos"/>
              </a:defRPr>
            </a:pPr>
            <a:r>
              <a:t>Project 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27448" y="501091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72B4D"/>
                </a:solidFill>
                <a:latin typeface="Aptos"/>
              </a:defRPr>
            </a:pPr>
            <a:r>
              <a:t>Upcoming task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18304" y="5285232"/>
            <a:ext cx="2761488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64608" y="5376672"/>
            <a:ext cx="24688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72B4D"/>
                </a:solidFill>
                <a:latin typeface="Aptos"/>
              </a:defRPr>
            </a:pPr>
            <a:r>
              <a:t>CSE assignment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64608" y="5586984"/>
            <a:ext cx="246888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B6B82"/>
                </a:solidFill>
                <a:latin typeface="Aptos"/>
              </a:defRPr>
            </a:pPr>
            <a:r>
              <a:t>Due tomorrow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07992" y="6007608"/>
            <a:ext cx="3182112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590288" y="6108192"/>
            <a:ext cx="713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476E8"/>
                </a:solidFill>
                <a:latin typeface="Aptos"/>
              </a:defRPr>
            </a:pPr>
            <a:r>
              <a:t>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90288" y="6336792"/>
            <a:ext cx="713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2476E8"/>
                </a:solidFill>
                <a:latin typeface="Aptos"/>
              </a:defRPr>
            </a:pPr>
            <a:r>
              <a:t>Home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9240" y="6108192"/>
            <a:ext cx="713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5B6B82"/>
                </a:solidFill>
                <a:latin typeface="Aptos"/>
              </a:defRPr>
            </a:pPr>
            <a:r>
              <a:t>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49240" y="6336792"/>
            <a:ext cx="713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5B6B82"/>
                </a:solidFill>
                <a:latin typeface="Aptos"/>
              </a:defRPr>
            </a:pPr>
            <a:r>
              <a:t>Tasks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08192" y="6108192"/>
            <a:ext cx="713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5B6B82"/>
                </a:solidFill>
                <a:latin typeface="Aptos"/>
              </a:defRPr>
            </a:pPr>
            <a:r>
              <a:t>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08192" y="6336792"/>
            <a:ext cx="713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5B6B82"/>
                </a:solidFill>
                <a:latin typeface="Aptos"/>
              </a:defRPr>
            </a:pPr>
            <a:r>
              <a:t>Calendar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67144" y="6108192"/>
            <a:ext cx="713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5B6B82"/>
                </a:solidFill>
                <a:latin typeface="Aptos"/>
              </a:defRPr>
            </a:pPr>
            <a:r>
              <a:t>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67144" y="6336792"/>
            <a:ext cx="713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5B6B82"/>
                </a:solidFill>
                <a:latin typeface="Aptos"/>
              </a:defRPr>
            </a:pPr>
            <a:r>
              <a:t>Profile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9144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2B4D"/>
                </a:solidFill>
                <a:latin typeface="Aptos"/>
              </a:defRPr>
            </a:pPr>
            <a:r>
              <a:t>Design notes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137160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6B82"/>
                </a:solidFill>
                <a:latin typeface="Aptos"/>
              </a:defRPr>
            </a:pPr>
            <a:r>
              <a:t>• Clear hierarchy</a:t>
            </a:r>
            <a:br/>
            <a:r>
              <a:t>• Consistent spacing</a:t>
            </a:r>
            <a:br/>
            <a:r>
              <a:t>• Simple touch targets</a:t>
            </a:r>
            <a:br/>
            <a:r>
              <a:t>• Reusable navigation</a:t>
            </a:r>
            <a:br/>
            <a:r>
              <a:t>• Placeholder content</a:t>
            </a:r>
            <a:br/>
            <a:br/>
            <a:r>
              <a:t>This is a concept prototype, not a coded app.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72B4D"/>
                </a:solidFill>
                <a:latin typeface="Aptos"/>
              </a:defRPr>
            </a:pPr>
            <a:r>
              <a:t>STUDYMATE  |  SCREEN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476E8"/>
                </a:solidFill>
                <a:latin typeface="Aptos"/>
              </a:defRPr>
            </a:pPr>
            <a:r>
              <a:t>04 – Add New 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3520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6B82"/>
                </a:solidFill>
                <a:latin typeface="Aptos"/>
              </a:defRPr>
            </a:pPr>
            <a:r>
              <a:t>Task title, description, subject, due date and priority; Save Task 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46120"/>
            <a:ext cx="3520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72B4D"/>
                </a:solidFill>
                <a:latin typeface="Aptos"/>
              </a:defRPr>
            </a:pPr>
            <a:r>
              <a:t>Low-fidelity mobile wireframe</a:t>
            </a:r>
            <a:br/>
            <a:r>
              <a:t>Professional blue &amp; white system</a:t>
            </a:r>
            <a:br/>
            <a:r>
              <a:t>Frame reference: 360 × 800 px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98848" y="182880"/>
            <a:ext cx="3200400" cy="6446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00016" y="27432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72B4D"/>
                </a:solidFill>
                <a:latin typeface="Aptos"/>
              </a:defRPr>
            </a:pPr>
            <a:r>
              <a:t>9:41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9128" y="27432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172B4D"/>
                </a:solidFill>
                <a:latin typeface="Aptos"/>
              </a:defRPr>
            </a:pPr>
            <a:r>
              <a:t>●  ▮  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27448" y="731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72B4D"/>
                </a:solidFill>
                <a:latin typeface="Aptos"/>
              </a:defRPr>
            </a:pPr>
            <a:r>
              <a:t>Add new task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7448" y="107899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B6B82"/>
                </a:solidFill>
                <a:latin typeface="Aptos"/>
              </a:defRPr>
            </a:pPr>
            <a:r>
              <a:t>Enter the details of your study task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1444751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72B4D"/>
                </a:solidFill>
                <a:latin typeface="Aptos"/>
              </a:defRPr>
            </a:pPr>
            <a:r>
              <a:t>Task title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18304" y="1673351"/>
            <a:ext cx="2761488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64608" y="1792223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794A7"/>
                </a:solidFill>
                <a:latin typeface="Aptos"/>
              </a:defRPr>
            </a:pPr>
            <a:r>
              <a:t>e.g. Complete CSE assignment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212848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72B4D"/>
                </a:solidFill>
                <a:latin typeface="Aptos"/>
              </a:defRPr>
            </a:pPr>
            <a:r>
              <a:t>Description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18304" y="2441448"/>
            <a:ext cx="2761488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64608" y="2560320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794A7"/>
                </a:solidFill>
                <a:latin typeface="Aptos"/>
              </a:defRPr>
            </a:pPr>
            <a:r>
              <a:t>Add a short description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298094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72B4D"/>
                </a:solidFill>
                <a:latin typeface="Aptos"/>
              </a:defRPr>
            </a:pPr>
            <a:r>
              <a:t>Subject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18304" y="3209544"/>
            <a:ext cx="2761488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64608" y="3328416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794A7"/>
                </a:solidFill>
                <a:latin typeface="Aptos"/>
              </a:defRPr>
            </a:pPr>
            <a:r>
              <a:t>Choose a subject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27448" y="3749039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72B4D"/>
                </a:solidFill>
                <a:latin typeface="Aptos"/>
              </a:defRPr>
            </a:pPr>
            <a:r>
              <a:t>Due date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18304" y="3977640"/>
            <a:ext cx="2761488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64608" y="4096512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794A7"/>
                </a:solidFill>
                <a:latin typeface="Aptos"/>
              </a:defRPr>
            </a:pPr>
            <a:r>
              <a:t>DD / MM / YYYY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27448" y="4572000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72B4D"/>
                </a:solidFill>
                <a:latin typeface="Aptos"/>
              </a:defRPr>
            </a:pPr>
            <a:r>
              <a:t>Priority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18304" y="4828032"/>
            <a:ext cx="822960" cy="36576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18304" y="4928616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72B4D"/>
                </a:solidFill>
                <a:latin typeface="Aptos"/>
              </a:defRPr>
            </a:pPr>
            <a:r>
              <a:t>Low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87568" y="4828032"/>
            <a:ext cx="822960" cy="36576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87568" y="4928616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72B4D"/>
                </a:solidFill>
                <a:latin typeface="Aptos"/>
              </a:defRPr>
            </a:pPr>
            <a:r>
              <a:t>Medium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56831" y="4828032"/>
            <a:ext cx="822960" cy="365760"/>
          </a:xfrm>
          <a:prstGeom prst="roundRect">
            <a:avLst/>
          </a:prstGeom>
          <a:solidFill>
            <a:srgbClr val="FDECEC"/>
          </a:solidFill>
          <a:ln w="12700"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56831" y="4928616"/>
            <a:ext cx="8229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172B4D"/>
                </a:solidFill>
                <a:latin typeface="Aptos"/>
              </a:defRPr>
            </a:pPr>
            <a:r>
              <a:t>High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18304" y="5468112"/>
            <a:ext cx="2761488" cy="475488"/>
          </a:xfrm>
          <a:prstGeom prst="roundRect">
            <a:avLst/>
          </a:prstGeom>
          <a:solidFill>
            <a:srgbClr val="2476E8"/>
          </a:solidFill>
          <a:ln w="12700">
            <a:solidFill>
              <a:srgbClr val="247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18304" y="5605272"/>
            <a:ext cx="2761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SAVE TASK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9144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2B4D"/>
                </a:solidFill>
                <a:latin typeface="Aptos"/>
              </a:defRPr>
            </a:pPr>
            <a:r>
              <a:t>Design notes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137160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6B82"/>
                </a:solidFill>
                <a:latin typeface="Aptos"/>
              </a:defRPr>
            </a:pPr>
            <a:r>
              <a:t>• Clear hierarchy</a:t>
            </a:r>
            <a:br/>
            <a:r>
              <a:t>• Consistent spacing</a:t>
            </a:r>
            <a:br/>
            <a:r>
              <a:t>• Simple touch targets</a:t>
            </a:r>
            <a:br/>
            <a:r>
              <a:t>• Reusable navigation</a:t>
            </a:r>
            <a:br/>
            <a:r>
              <a:t>• Placeholder content</a:t>
            </a:r>
            <a:br/>
            <a:br/>
            <a:r>
              <a:t>This is a concept prototype, not a coded app.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72B4D"/>
                </a:solidFill>
                <a:latin typeface="Aptos"/>
              </a:defRPr>
            </a:pPr>
            <a:r>
              <a:t>STUDYMATE  |  SCREEN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476E8"/>
                </a:solidFill>
                <a:latin typeface="Aptos"/>
              </a:defRPr>
            </a:pPr>
            <a:r>
              <a:t>05 – My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3520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6B82"/>
                </a:solidFill>
                <a:latin typeface="Aptos"/>
              </a:defRPr>
            </a:pPr>
            <a:r>
              <a:t>All / Pending / Completed filters; task cards with due date and priority; bottom navigation.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46120"/>
            <a:ext cx="3520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72B4D"/>
                </a:solidFill>
                <a:latin typeface="Aptos"/>
              </a:defRPr>
            </a:pPr>
            <a:r>
              <a:t>Low-fidelity mobile wireframe</a:t>
            </a:r>
            <a:br/>
            <a:r>
              <a:t>Professional blue &amp; white system</a:t>
            </a:r>
            <a:br/>
            <a:r>
              <a:t>Frame reference: 360 × 800 px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98848" y="182880"/>
            <a:ext cx="3200400" cy="6446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00016" y="27432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72B4D"/>
                </a:solidFill>
                <a:latin typeface="Aptos"/>
              </a:defRPr>
            </a:pPr>
            <a:r>
              <a:t>9:41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9128" y="27432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172B4D"/>
                </a:solidFill>
                <a:latin typeface="Aptos"/>
              </a:defRPr>
            </a:pPr>
            <a:r>
              <a:t>●  ▮  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27448" y="731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72B4D"/>
                </a:solidFill>
                <a:latin typeface="Aptos"/>
              </a:defRPr>
            </a:pPr>
            <a:r>
              <a:t>My tasks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7448" y="107899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B6B82"/>
                </a:solidFill>
                <a:latin typeface="Aptos"/>
              </a:defRPr>
            </a:pPr>
            <a:r>
              <a:t>Keep track of what needs to get done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18304" y="1444751"/>
            <a:ext cx="850392" cy="347472"/>
          </a:xfrm>
          <a:prstGeom prst="roundRect">
            <a:avLst/>
          </a:prstGeom>
          <a:solidFill>
            <a:srgbClr val="2476E8"/>
          </a:solidFill>
          <a:ln w="12700">
            <a:solidFill>
              <a:srgbClr val="247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18304" y="1536192"/>
            <a:ext cx="8503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  <a:latin typeface="Aptos"/>
              </a:defRPr>
            </a:pPr>
            <a:r>
              <a:t>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0136" y="1444751"/>
            <a:ext cx="850392" cy="34747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60136" y="1536192"/>
            <a:ext cx="8503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5B6B82"/>
                </a:solidFill>
                <a:latin typeface="Aptos"/>
              </a:defRPr>
            </a:pPr>
            <a:r>
              <a:t>Pending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01968" y="1444751"/>
            <a:ext cx="850392" cy="34747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01968" y="1536192"/>
            <a:ext cx="85039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5B6B82"/>
                </a:solidFill>
                <a:latin typeface="Aptos"/>
              </a:defRPr>
            </a:pPr>
            <a:r>
              <a:t>Completed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18304" y="1993392"/>
            <a:ext cx="2761488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864608" y="2231136"/>
            <a:ext cx="182880" cy="182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47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157216" y="2103120"/>
            <a:ext cx="2148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72B4D"/>
                </a:solidFill>
                <a:latin typeface="Aptos"/>
              </a:defRPr>
            </a:pPr>
            <a:r>
              <a:t>Complete CSE assignment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57216" y="2322576"/>
            <a:ext cx="21031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B6B82"/>
                </a:solidFill>
                <a:latin typeface="Aptos"/>
              </a:defRPr>
            </a:pPr>
            <a:r>
              <a:t>Due: Tomorrow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57216" y="2514600"/>
            <a:ext cx="21031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2476E8"/>
                </a:solidFill>
                <a:latin typeface="Aptos"/>
              </a:defRPr>
            </a:pPr>
            <a:r>
              <a:t>Priority: High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18304" y="2880360"/>
            <a:ext cx="2761488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864608" y="3118104"/>
            <a:ext cx="182880" cy="182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47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157216" y="2990088"/>
            <a:ext cx="2148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72B4D"/>
                </a:solidFill>
                <a:latin typeface="Aptos"/>
              </a:defRPr>
            </a:pPr>
            <a:r>
              <a:t>Prepare seminar slides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7216" y="3209544"/>
            <a:ext cx="21031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B6B82"/>
                </a:solidFill>
                <a:latin typeface="Aptos"/>
              </a:defRPr>
            </a:pPr>
            <a:r>
              <a:t>Due: 10 Oct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57216" y="3401568"/>
            <a:ext cx="21031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2476E8"/>
                </a:solidFill>
                <a:latin typeface="Aptos"/>
              </a:defRPr>
            </a:pPr>
            <a:r>
              <a:t>Priority: Medium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18304" y="3767328"/>
            <a:ext cx="2761488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864608" y="4005072"/>
            <a:ext cx="182880" cy="182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47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157216" y="3877056"/>
            <a:ext cx="2148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72B4D"/>
                </a:solidFill>
                <a:latin typeface="Aptos"/>
              </a:defRPr>
            </a:pPr>
            <a:r>
              <a:t>Review programming notes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57216" y="4096512"/>
            <a:ext cx="21031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B6B82"/>
                </a:solidFill>
                <a:latin typeface="Aptos"/>
              </a:defRPr>
            </a:pPr>
            <a:r>
              <a:t>Due: 12 Oct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57216" y="4288536"/>
            <a:ext cx="21031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2476E8"/>
                </a:solidFill>
                <a:latin typeface="Aptos"/>
              </a:defRPr>
            </a:pPr>
            <a:r>
              <a:t>Priority: Low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18304" y="4654296"/>
            <a:ext cx="2761488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4864608" y="4892040"/>
            <a:ext cx="182880" cy="182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47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157216" y="4764024"/>
            <a:ext cx="2148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72B4D"/>
                </a:solidFill>
                <a:latin typeface="Aptos"/>
              </a:defRPr>
            </a:pPr>
            <a:r>
              <a:t>Practice mathematics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57216" y="4983480"/>
            <a:ext cx="21031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B6B82"/>
                </a:solidFill>
                <a:latin typeface="Aptos"/>
              </a:defRPr>
            </a:pPr>
            <a:r>
              <a:t>Due: 14 Oct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57216" y="5175504"/>
            <a:ext cx="21031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2476E8"/>
                </a:solidFill>
                <a:latin typeface="Aptos"/>
              </a:defRPr>
            </a:pPr>
            <a:r>
              <a:t>Priority: Medium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07992" y="6007608"/>
            <a:ext cx="3182112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90288" y="6108192"/>
            <a:ext cx="713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5B6B82"/>
                </a:solidFill>
                <a:latin typeface="Aptos"/>
              </a:defRPr>
            </a:pPr>
            <a:r>
              <a:t>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90288" y="6336792"/>
            <a:ext cx="713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5B6B82"/>
                </a:solidFill>
                <a:latin typeface="Aptos"/>
              </a:defRPr>
            </a:pPr>
            <a:r>
              <a:t>Home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49240" y="6108192"/>
            <a:ext cx="713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476E8"/>
                </a:solidFill>
                <a:latin typeface="Aptos"/>
              </a:defRPr>
            </a:pPr>
            <a:r>
              <a:t>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49240" y="6336792"/>
            <a:ext cx="713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2476E8"/>
                </a:solidFill>
                <a:latin typeface="Aptos"/>
              </a:defRPr>
            </a:pPr>
            <a:r>
              <a:t>Tasks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08192" y="6108192"/>
            <a:ext cx="713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5B6B82"/>
                </a:solidFill>
                <a:latin typeface="Aptos"/>
              </a:defRPr>
            </a:pPr>
            <a:r>
              <a:t>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08192" y="6336792"/>
            <a:ext cx="713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5B6B82"/>
                </a:solidFill>
                <a:latin typeface="Aptos"/>
              </a:defRPr>
            </a:pPr>
            <a:r>
              <a:t>Calendar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67144" y="6108192"/>
            <a:ext cx="713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5B6B82"/>
                </a:solidFill>
                <a:latin typeface="Aptos"/>
              </a:defRPr>
            </a:pPr>
            <a:r>
              <a:t>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67144" y="6336792"/>
            <a:ext cx="713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5B6B82"/>
                </a:solidFill>
                <a:latin typeface="Aptos"/>
              </a:defRPr>
            </a:pPr>
            <a:r>
              <a:t>Profile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9144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2B4D"/>
                </a:solidFill>
                <a:latin typeface="Aptos"/>
              </a:defRPr>
            </a:pPr>
            <a:r>
              <a:t>Design notes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137160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6B82"/>
                </a:solidFill>
                <a:latin typeface="Aptos"/>
              </a:defRPr>
            </a:pPr>
            <a:r>
              <a:t>• Clear hierarchy</a:t>
            </a:r>
            <a:br/>
            <a:r>
              <a:t>• Consistent spacing</a:t>
            </a:r>
            <a:br/>
            <a:r>
              <a:t>• Simple touch targets</a:t>
            </a:r>
            <a:br/>
            <a:r>
              <a:t>• Reusable navigation</a:t>
            </a:r>
            <a:br/>
            <a:r>
              <a:t>• Placeholder content</a:t>
            </a:r>
            <a:br/>
            <a:br/>
            <a:r>
              <a:t>This is a concept prototype, not a coded app.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72B4D"/>
                </a:solidFill>
                <a:latin typeface="Aptos"/>
              </a:defRPr>
            </a:pPr>
            <a:r>
              <a:t>STUDYMATE  |  SCREEN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476E8"/>
                </a:solidFill>
                <a:latin typeface="Aptos"/>
              </a:defRPr>
            </a:pPr>
            <a:r>
              <a:t>06 – Calendar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3520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6B82"/>
                </a:solidFill>
                <a:latin typeface="Aptos"/>
              </a:defRPr>
            </a:pPr>
            <a:r>
              <a:t>Monthly calendar view with highlighted dates; upcoming events; bottom navigation.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46120"/>
            <a:ext cx="3520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72B4D"/>
                </a:solidFill>
                <a:latin typeface="Aptos"/>
              </a:defRPr>
            </a:pPr>
            <a:r>
              <a:t>Low-fidelity mobile wireframe</a:t>
            </a:r>
            <a:br/>
            <a:r>
              <a:t>Professional blue &amp; white system</a:t>
            </a:r>
            <a:br/>
            <a:r>
              <a:t>Frame reference: 360 × 800 px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98848" y="182880"/>
            <a:ext cx="3200400" cy="6446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00016" y="27432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72B4D"/>
                </a:solidFill>
                <a:latin typeface="Aptos"/>
              </a:defRPr>
            </a:pPr>
            <a:r>
              <a:t>9:41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9128" y="27432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172B4D"/>
                </a:solidFill>
                <a:latin typeface="Aptos"/>
              </a:defRPr>
            </a:pPr>
            <a:r>
              <a:t>●  ▮  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27448" y="731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72B4D"/>
                </a:solidFill>
                <a:latin typeface="Aptos"/>
              </a:defRPr>
            </a:pPr>
            <a:r>
              <a:t>Calendar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7448" y="107899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B6B82"/>
                </a:solidFill>
                <a:latin typeface="Aptos"/>
              </a:defRPr>
            </a:pPr>
            <a:r>
              <a:t>October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18304" y="1444751"/>
            <a:ext cx="2761488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0" y="1691639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5B6B82"/>
                </a:solidFill>
                <a:latin typeface="Aptos"/>
              </a:defRPr>
            </a:pPr>
            <a:r>
              <a:t>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38928" y="1691639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5B6B82"/>
                </a:solidFill>
                <a:latin typeface="Aptos"/>
              </a:defRPr>
            </a:pPr>
            <a:r>
              <a:t>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22976" y="1691639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5B6B82"/>
                </a:solidFill>
                <a:latin typeface="Aptos"/>
              </a:defRPr>
            </a:pPr>
            <a:r>
              <a:t>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07024" y="1691639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5B6B82"/>
                </a:solidFill>
                <a:latin typeface="Aptos"/>
              </a:defRPr>
            </a:pPr>
            <a:r>
              <a:t>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1691639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5B6B82"/>
                </a:solidFill>
                <a:latin typeface="Aptos"/>
              </a:defRPr>
            </a:pPr>
            <a:r>
              <a:t>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1691639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5B6B82"/>
                </a:solidFill>
                <a:latin typeface="Aptos"/>
              </a:defRPr>
            </a:pPr>
            <a:r>
              <a:t>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9168" y="1691639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5B6B82"/>
                </a:solidFill>
                <a:latin typeface="Aptos"/>
              </a:defRPr>
            </a:pPr>
            <a:r>
              <a:t>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2029968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172B4D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029968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172B4D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8" y="2029968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172B4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242316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172B4D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38928" y="242316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172B4D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559552" y="2395728"/>
            <a:ext cx="256032" cy="256032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522976" y="242316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2476E8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07024" y="242316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172B4D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91072" y="242316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172B4D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242316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172B4D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95744" y="2395728"/>
            <a:ext cx="256032" cy="256032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059168" y="242316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2476E8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281635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172B4D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38928" y="281635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172B4D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22976" y="281635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172B4D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2788920"/>
            <a:ext cx="256032" cy="256032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907024" y="281635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2476E8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1072" y="281635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172B4D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281635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172B4D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59168" y="281635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172B4D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0" y="3209544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172B4D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38928" y="3209544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172B4D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559552" y="3182112"/>
            <a:ext cx="256032" cy="256032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522976" y="3209544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2476E8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07024" y="3209544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172B4D"/>
                </a:solidFill>
                <a:latin typeface="Aptos"/>
              </a:defRPr>
            </a:pPr>
            <a:r>
              <a:t>21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91072" y="3209544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172B4D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0" y="3209544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172B4D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59168" y="3209544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172B4D"/>
                </a:solidFill>
                <a:latin typeface="Aptos"/>
              </a:defRPr>
            </a:pPr>
            <a:r>
              <a:t>24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80" y="3602736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172B4D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38928" y="3602736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172B4D"/>
                </a:solidFill>
                <a:latin typeface="Aptos"/>
              </a:defRPr>
            </a:pPr>
            <a:r>
              <a:t>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22976" y="3602736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172B4D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07024" y="3602736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172B4D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91072" y="3602736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172B4D"/>
                </a:solidFill>
                <a:latin typeface="Aptos"/>
              </a:defRPr>
            </a:pPr>
            <a:r>
              <a:t>29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75120" y="3602736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172B4D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59168" y="3602736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172B4D"/>
                </a:solidFill>
                <a:latin typeface="Aptos"/>
              </a:defRPr>
            </a:pPr>
            <a:r>
              <a:t>31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27448" y="440740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72B4D"/>
                </a:solidFill>
                <a:latin typeface="Aptos"/>
              </a:defRPr>
            </a:pPr>
            <a:r>
              <a:t>Upcoming events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718304" y="4754880"/>
            <a:ext cx="2761488" cy="47548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864608" y="4846320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2476E8"/>
                </a:solidFill>
                <a:latin typeface="Aptos"/>
              </a:defRPr>
            </a:pPr>
            <a:r>
              <a:t>10 Oct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504688" y="48463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72B4D"/>
                </a:solidFill>
                <a:latin typeface="Aptos"/>
              </a:defRPr>
            </a:pPr>
            <a:r>
              <a:t>Mathematics assignment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718304" y="5376672"/>
            <a:ext cx="2761488" cy="47548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864608" y="5468112"/>
            <a:ext cx="594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2476E8"/>
                </a:solidFill>
                <a:latin typeface="Aptos"/>
              </a:defRPr>
            </a:pPr>
            <a:r>
              <a:t>12 Oct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504688" y="5468112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172B4D"/>
                </a:solidFill>
                <a:latin typeface="Aptos"/>
              </a:defRPr>
            </a:pPr>
            <a:r>
              <a:t>CSE seminar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507992" y="6007608"/>
            <a:ext cx="3182112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590288" y="6108192"/>
            <a:ext cx="713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5B6B82"/>
                </a:solidFill>
                <a:latin typeface="Aptos"/>
              </a:defRPr>
            </a:pPr>
            <a:r>
              <a:t>⌂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90288" y="6336792"/>
            <a:ext cx="713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5B6B82"/>
                </a:solidFill>
                <a:latin typeface="Aptos"/>
              </a:defRPr>
            </a:pPr>
            <a:r>
              <a:t>Home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349240" y="6108192"/>
            <a:ext cx="713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5B6B82"/>
                </a:solidFill>
                <a:latin typeface="Aptos"/>
              </a:defRPr>
            </a:pPr>
            <a:r>
              <a:t>☷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49240" y="6336792"/>
            <a:ext cx="713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5B6B82"/>
                </a:solidFill>
                <a:latin typeface="Aptos"/>
              </a:defRPr>
            </a:pPr>
            <a:r>
              <a:t>Tasks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08192" y="6108192"/>
            <a:ext cx="713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476E8"/>
                </a:solidFill>
                <a:latin typeface="Aptos"/>
              </a:defRPr>
            </a:pPr>
            <a:r>
              <a:t>▦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108192" y="6336792"/>
            <a:ext cx="713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2476E8"/>
                </a:solidFill>
                <a:latin typeface="Aptos"/>
              </a:defRPr>
            </a:pPr>
            <a:r>
              <a:t>Calendar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67144" y="6108192"/>
            <a:ext cx="713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5B6B82"/>
                </a:solidFill>
                <a:latin typeface="Aptos"/>
              </a:defRPr>
            </a:pPr>
            <a:r>
              <a:t>◉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67144" y="6336792"/>
            <a:ext cx="713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5B6B82"/>
                </a:solidFill>
                <a:latin typeface="Aptos"/>
              </a:defRPr>
            </a:pPr>
            <a:r>
              <a:t>Profile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29600" y="9144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2B4D"/>
                </a:solidFill>
                <a:latin typeface="Aptos"/>
              </a:defRPr>
            </a:pPr>
            <a:r>
              <a:t>Design notes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29600" y="137160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6B82"/>
                </a:solidFill>
                <a:latin typeface="Aptos"/>
              </a:defRPr>
            </a:pPr>
            <a:r>
              <a:t>• Clear hierarchy</a:t>
            </a:r>
            <a:br/>
            <a:r>
              <a:t>• Consistent spacing</a:t>
            </a:r>
            <a:br/>
            <a:r>
              <a:t>• Simple touch targets</a:t>
            </a:r>
            <a:br/>
            <a:r>
              <a:t>• Reusable navigation</a:t>
            </a:r>
            <a:br/>
            <a:r>
              <a:t>• Placeholder content</a:t>
            </a:r>
            <a:br/>
            <a:br/>
            <a:r>
              <a:t>This is a concept prototype, not a coded app.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72B4D"/>
                </a:solidFill>
                <a:latin typeface="Aptos"/>
              </a:defRPr>
            </a:pPr>
            <a:r>
              <a:t>STUDYMATE  |  SCREEN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476E8"/>
                </a:solidFill>
                <a:latin typeface="Aptos"/>
              </a:defRPr>
            </a:pPr>
            <a:r>
              <a:t>07 – Task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3520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6B82"/>
                </a:solidFill>
                <a:latin typeface="Aptos"/>
              </a:defRPr>
            </a:pPr>
            <a:r>
              <a:t>Task title, subject, due date, description and priority; Mark Completed and Edit Task actions.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46120"/>
            <a:ext cx="3520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72B4D"/>
                </a:solidFill>
                <a:latin typeface="Aptos"/>
              </a:defRPr>
            </a:pPr>
            <a:r>
              <a:t>Low-fidelity mobile wireframe</a:t>
            </a:r>
            <a:br/>
            <a:r>
              <a:t>Professional blue &amp; white system</a:t>
            </a:r>
            <a:br/>
            <a:r>
              <a:t>Frame reference: 360 × 800 px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98848" y="182880"/>
            <a:ext cx="3200400" cy="6446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00016" y="27432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72B4D"/>
                </a:solidFill>
                <a:latin typeface="Aptos"/>
              </a:defRPr>
            </a:pPr>
            <a:r>
              <a:t>9:41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9128" y="27432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172B4D"/>
                </a:solidFill>
                <a:latin typeface="Aptos"/>
              </a:defRPr>
            </a:pPr>
            <a:r>
              <a:t>●  ▮  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27448" y="731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72B4D"/>
                </a:solidFill>
                <a:latin typeface="Aptos"/>
              </a:defRPr>
            </a:pPr>
            <a:r>
              <a:t>Task details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7448" y="107899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B6B82"/>
                </a:solidFill>
                <a:latin typeface="Aptos"/>
              </a:defRPr>
            </a:pPr>
            <a:r>
              <a:t>Review your assignment information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18304" y="1481328"/>
            <a:ext cx="2761488" cy="199339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82896" y="1700784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72B4D"/>
                </a:solidFill>
                <a:latin typeface="Aptos"/>
              </a:defRPr>
            </a:pPr>
            <a:r>
              <a:t>Complete Mathematics</a:t>
            </a:r>
            <a:br/>
            <a:r>
              <a:t>Assignment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82896" y="2395728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5B6B82"/>
                </a:solidFill>
                <a:latin typeface="Aptos"/>
              </a:defRPr>
            </a:pPr>
            <a:r>
              <a:t>Subject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896" y="258775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72B4D"/>
                </a:solidFill>
                <a:latin typeface="Aptos"/>
              </a:defRPr>
            </a:pPr>
            <a:r>
              <a:t>Mathematics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82896" y="2889504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5B6B82"/>
                </a:solidFill>
                <a:latin typeface="Aptos"/>
              </a:defRPr>
            </a:pPr>
            <a:r>
              <a:t>Due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2896" y="3072384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72B4D"/>
                </a:solidFill>
                <a:latin typeface="Aptos"/>
              </a:defRPr>
            </a:pPr>
            <a:r>
              <a:t>10 October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37033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72B4D"/>
                </a:solidFill>
                <a:latin typeface="Aptos"/>
              </a:defRPr>
            </a:pPr>
            <a:r>
              <a:t>Description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8" y="4005072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B6B82"/>
                </a:solidFill>
                <a:latin typeface="Aptos"/>
              </a:defRPr>
            </a:pPr>
            <a:r>
              <a:t>Complete the assigned mathematics</a:t>
            </a:r>
            <a:br/>
            <a:r>
              <a:t>problems and review your answers.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27448" y="4645152"/>
            <a:ext cx="2743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72B4D"/>
                </a:solidFill>
                <a:latin typeface="Aptos"/>
              </a:defRPr>
            </a:pPr>
            <a:r>
              <a:t>Priority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18304" y="4901184"/>
            <a:ext cx="749808" cy="292608"/>
          </a:xfrm>
          <a:prstGeom prst="roundRect">
            <a:avLst/>
          </a:prstGeom>
          <a:solidFill>
            <a:srgbClr val="FDECEC"/>
          </a:solidFill>
          <a:ln w="12700">
            <a:solidFill>
              <a:srgbClr val="FDEC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18304" y="4965192"/>
            <a:ext cx="749808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C0392B"/>
                </a:solidFill>
                <a:latin typeface="Aptos"/>
              </a:defRPr>
            </a:pPr>
            <a:r>
              <a:t>HIGH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18304" y="5349240"/>
            <a:ext cx="2761488" cy="475488"/>
          </a:xfrm>
          <a:prstGeom prst="roundRect">
            <a:avLst/>
          </a:prstGeom>
          <a:solidFill>
            <a:srgbClr val="2476E8"/>
          </a:solidFill>
          <a:ln w="12700">
            <a:solidFill>
              <a:srgbClr val="247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18304" y="5486400"/>
            <a:ext cx="276148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MARK COMPLETED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18304" y="5916168"/>
            <a:ext cx="2761488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47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18304" y="6016752"/>
            <a:ext cx="2761488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2476E8"/>
                </a:solidFill>
                <a:latin typeface="Aptos"/>
              </a:defRPr>
            </a:pPr>
            <a:r>
              <a:t>EDIT TASK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9144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2B4D"/>
                </a:solidFill>
                <a:latin typeface="Aptos"/>
              </a:defRPr>
            </a:pPr>
            <a:r>
              <a:t>Design notes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137160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6B82"/>
                </a:solidFill>
                <a:latin typeface="Aptos"/>
              </a:defRPr>
            </a:pPr>
            <a:r>
              <a:t>• Clear hierarchy</a:t>
            </a:r>
            <a:br/>
            <a:r>
              <a:t>• Consistent spacing</a:t>
            </a:r>
            <a:br/>
            <a:r>
              <a:t>• Simple touch targets</a:t>
            </a:r>
            <a:br/>
            <a:r>
              <a:t>• Reusable navigation</a:t>
            </a:r>
            <a:br/>
            <a:r>
              <a:t>• Placeholder content</a:t>
            </a:r>
            <a:br/>
            <a:br/>
            <a:r>
              <a:t>This is a concept prototype, not a coded app.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72B4D"/>
                </a:solidFill>
                <a:latin typeface="Aptos"/>
              </a:defRPr>
            </a:pPr>
            <a:r>
              <a:t>STUDYMATE  |  SCREEN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476E8"/>
                </a:solidFill>
                <a:latin typeface="Aptos"/>
              </a:defRPr>
            </a:pPr>
            <a:r>
              <a:t>08 – Progress &amp;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3520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6B82"/>
                </a:solidFill>
                <a:latin typeface="Aptos"/>
              </a:defRPr>
            </a:pPr>
            <a:r>
              <a:t>Student profile summary; completed and pending task counts; progress bars; settings; bottom navigation.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46120"/>
            <a:ext cx="3520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72B4D"/>
                </a:solidFill>
                <a:latin typeface="Aptos"/>
              </a:defRPr>
            </a:pPr>
            <a:r>
              <a:t>Low-fidelity mobile wireframe</a:t>
            </a:r>
            <a:br/>
            <a:r>
              <a:t>Professional blue &amp; white system</a:t>
            </a:r>
            <a:br/>
            <a:r>
              <a:t>Frame reference: 360 × 800 px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98848" y="182880"/>
            <a:ext cx="3200400" cy="6446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7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00016" y="27432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72B4D"/>
                </a:solidFill>
                <a:latin typeface="Aptos"/>
              </a:defRPr>
            </a:pPr>
            <a:r>
              <a:t>9:41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39128" y="274320"/>
            <a:ext cx="731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172B4D"/>
                </a:solidFill>
                <a:latin typeface="Aptos"/>
              </a:defRPr>
            </a:pPr>
            <a:r>
              <a:t>●  ▮  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27448" y="731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72B4D"/>
                </a:solidFill>
                <a:latin typeface="Aptos"/>
              </a:defRPr>
            </a:pPr>
            <a:r>
              <a:t>My profile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7448" y="1078992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B6B82"/>
                </a:solidFill>
                <a:latin typeface="Aptos"/>
              </a:defRPr>
            </a:pPr>
            <a:r>
              <a:t>Your learning activity at a glance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18304" y="1444751"/>
            <a:ext cx="2761488" cy="86868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892040" y="1609344"/>
            <a:ext cx="50292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47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92040" y="1728216"/>
            <a:ext cx="502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2476E8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22976" y="1627632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72B4D"/>
                </a:solidFill>
                <a:latin typeface="Aptos"/>
              </a:defRPr>
            </a:pPr>
            <a:r>
              <a:t>Alex Morgan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22976" y="1901952"/>
            <a:ext cx="17373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B6B82"/>
                </a:solidFill>
                <a:latin typeface="Aptos"/>
              </a:defRPr>
            </a:pPr>
            <a:r>
              <a:t>Computer Science Student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256032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72B4D"/>
                </a:solidFill>
                <a:latin typeface="Aptos"/>
              </a:defRPr>
            </a:pPr>
            <a:r>
              <a:t>Your progress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18304" y="2944368"/>
            <a:ext cx="2761488" cy="74980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82896" y="3054096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B6B82"/>
                </a:solidFill>
                <a:latin typeface="Aptos"/>
              </a:defRPr>
            </a:pPr>
            <a:r>
              <a:t>Tasks completed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9168" y="303580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72B4D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82896" y="3419856"/>
            <a:ext cx="2377440" cy="91440"/>
          </a:xfrm>
          <a:prstGeom prst="roundRect">
            <a:avLst/>
          </a:prstGeom>
          <a:solidFill>
            <a:srgbClr val="DCE5F1"/>
          </a:solidFill>
          <a:ln w="1270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4882896" y="3419856"/>
            <a:ext cx="1783080" cy="91440"/>
          </a:xfrm>
          <a:prstGeom prst="roundRect">
            <a:avLst/>
          </a:prstGeom>
          <a:solidFill>
            <a:srgbClr val="2476E8"/>
          </a:solidFill>
          <a:ln w="12700">
            <a:solidFill>
              <a:srgbClr val="247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718304" y="3886200"/>
            <a:ext cx="2761488" cy="74980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82896" y="3995928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5B6B82"/>
                </a:solidFill>
                <a:latin typeface="Aptos"/>
              </a:defRPr>
            </a:pPr>
            <a:r>
              <a:t>Pending tasks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59168" y="3977639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72B4D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82896" y="4361688"/>
            <a:ext cx="2377440" cy="91440"/>
          </a:xfrm>
          <a:prstGeom prst="roundRect">
            <a:avLst/>
          </a:prstGeom>
          <a:solidFill>
            <a:srgbClr val="DCE5F1"/>
          </a:solidFill>
          <a:ln w="12700">
            <a:solidFill>
              <a:srgbClr val="DC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882896" y="4361688"/>
            <a:ext cx="594360" cy="91440"/>
          </a:xfrm>
          <a:prstGeom prst="roundRect">
            <a:avLst/>
          </a:prstGeom>
          <a:solidFill>
            <a:srgbClr val="2476E8"/>
          </a:solidFill>
          <a:ln w="12700">
            <a:solidFill>
              <a:srgbClr val="247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27448" y="477316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72B4D"/>
                </a:solidFill>
                <a:latin typeface="Aptos"/>
              </a:defRPr>
            </a:pPr>
            <a:r>
              <a:t>Settings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82896" y="512064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72B4D"/>
                </a:solidFill>
                <a:latin typeface="Aptos"/>
              </a:defRPr>
            </a:pPr>
            <a:r>
              <a:t>Account settings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87768" y="5120640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B6B82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82896" y="5504688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72B4D"/>
                </a:solidFill>
                <a:latin typeface="Aptos"/>
              </a:defRPr>
            </a:pPr>
            <a:r>
              <a:t>Notifications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87768" y="5504688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B6B82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82896" y="5888736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72B4D"/>
                </a:solidFill>
                <a:latin typeface="Aptos"/>
              </a:defRPr>
            </a:pPr>
            <a:r>
              <a:t>Help and support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87768" y="5888736"/>
            <a:ext cx="137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B6B82"/>
                </a:solidFill>
                <a:latin typeface="Aptos"/>
              </a:defRPr>
            </a:pPr>
            <a:r>
              <a:t>&gt;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07992" y="6007608"/>
            <a:ext cx="3182112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F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590288" y="6108192"/>
            <a:ext cx="713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5B6B82"/>
                </a:solidFill>
                <a:latin typeface="Aptos"/>
              </a:defRPr>
            </a:pPr>
            <a:r>
              <a:t>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90288" y="6336792"/>
            <a:ext cx="713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5B6B82"/>
                </a:solidFill>
                <a:latin typeface="Aptos"/>
              </a:defRPr>
            </a:pPr>
            <a:r>
              <a:t>Home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49240" y="6108192"/>
            <a:ext cx="713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5B6B82"/>
                </a:solidFill>
                <a:latin typeface="Aptos"/>
              </a:defRPr>
            </a:pPr>
            <a:r>
              <a:t>☷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49240" y="6336792"/>
            <a:ext cx="713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5B6B82"/>
                </a:solidFill>
                <a:latin typeface="Aptos"/>
              </a:defRPr>
            </a:pPr>
            <a:r>
              <a:t>Tasks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08192" y="6108192"/>
            <a:ext cx="713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5B6B82"/>
                </a:solidFill>
                <a:latin typeface="Aptos"/>
              </a:defRPr>
            </a:pPr>
            <a:r>
              <a:t>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08192" y="6336792"/>
            <a:ext cx="713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5B6B82"/>
                </a:solidFill>
                <a:latin typeface="Aptos"/>
              </a:defRPr>
            </a:pPr>
            <a:r>
              <a:t>Calendar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67144" y="6108192"/>
            <a:ext cx="7132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476E8"/>
                </a:solidFill>
                <a:latin typeface="Aptos"/>
              </a:defRPr>
            </a:pPr>
            <a:r>
              <a:t>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67144" y="6336792"/>
            <a:ext cx="713232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1">
                <a:solidFill>
                  <a:srgbClr val="2476E8"/>
                </a:solidFill>
                <a:latin typeface="Aptos"/>
              </a:defRPr>
            </a:pPr>
            <a:r>
              <a:t>Profile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9144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72B4D"/>
                </a:solidFill>
                <a:latin typeface="Aptos"/>
              </a:defRPr>
            </a:pPr>
            <a:r>
              <a:t>Design notes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137160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B6B82"/>
                </a:solidFill>
                <a:latin typeface="Aptos"/>
              </a:defRPr>
            </a:pPr>
            <a:r>
              <a:t>• Clear hierarchy</a:t>
            </a:r>
            <a:br/>
            <a:r>
              <a:t>• Consistent spacing</a:t>
            </a:r>
            <a:br/>
            <a:r>
              <a:t>• Simple touch targets</a:t>
            </a:r>
            <a:br/>
            <a:r>
              <a:t>• Reusable navigation</a:t>
            </a:r>
            <a:br/>
            <a:r>
              <a:t>• Placeholder content</a:t>
            </a:r>
            <a:br/>
            <a:br/>
            <a:r>
              <a:t>This is a concept prototype, not a coded app.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sibiraj10215@gmail.com</cp:lastModifiedBy>
  <cp:revision>2</cp:revision>
  <dcterms:created xsi:type="dcterms:W3CDTF">2013-01-27T09:14:16Z</dcterms:created>
  <dcterms:modified xsi:type="dcterms:W3CDTF">2026-10-03T08:45:19Z</dcterms:modified>
  <cp:category/>
</cp:coreProperties>
</file>